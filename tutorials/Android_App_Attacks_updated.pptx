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8345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8728" y="507585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</a:rPr>
              <a:t>MOBILE APPLICATION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5290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8FAFC"/>
                </a:solidFill>
              </a:rPr>
              <a:t>Android App</a:t>
            </a:r>
            <a:r>
              <a:rPr lang="en-US" sz="4800" dirty="0"/>
              <a:t> </a:t>
            </a:r>
            <a:r>
              <a:rPr lang="en-US" sz="4800" b="1" dirty="0">
                <a:solidFill>
                  <a:srgbClr val="F8FAFC"/>
                </a:solidFill>
              </a:rPr>
              <a:t>Attack Surfaces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062002" y="3012855"/>
            <a:ext cx="80679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BD5E1"/>
                </a:solidFill>
              </a:rPr>
              <a:t>XSS · CSRF · XXE · Injection · DoS · Dependencies · AuthZ · Tokens · MITM</a:t>
            </a:r>
            <a:endParaRPr lang="en-US" sz="1600" b="1" dirty="0"/>
          </a:p>
        </p:txBody>
      </p:sp>
      <p:sp>
        <p:nvSpPr>
          <p:cNvPr id="5" name="Text 3"/>
          <p:cNvSpPr/>
          <p:nvPr/>
        </p:nvSpPr>
        <p:spPr>
          <a:xfrm>
            <a:off x="4543557" y="4251773"/>
            <a:ext cx="3104885" cy="1240971"/>
          </a:xfrm>
          <a:prstGeom prst="rect">
            <a:avLst/>
          </a:prstGeom>
          <a:solidFill>
            <a:srgbClr val="A78BFA">
              <a:alpha val="95000"/>
            </a:srgbClr>
          </a:solidFill>
          <a:ln>
            <a:solidFill>
              <a:srgbClr val="A78BFA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FAFC"/>
                </a:solidFill>
              </a:rPr>
              <a:t>Case study: DIVA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</a:rPr>
              <a:t>AGENDA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AGENDA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68096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</a:rPr>
              <a:t>flow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0352" y="12435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From threat model to practical fixes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01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17320" y="1874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8FAFC"/>
                </a:solidFill>
              </a:rPr>
              <a:t>Context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37560" y="18928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CBD5E1"/>
                </a:solidFill>
              </a:rPr>
              <a:t>Why the Android client is hostile territory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777240" y="2377440"/>
            <a:ext cx="9966960" cy="0"/>
          </a:xfrm>
          <a:prstGeom prst="line">
            <a:avLst/>
          </a:prstGeom>
          <a:noFill/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243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02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17320" y="26243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8FAFC"/>
                </a:solidFill>
              </a:rPr>
              <a:t>Lab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37560" y="264261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CBD5E1"/>
                </a:solidFill>
              </a:rPr>
              <a:t>DIVA as a safe vulnerable test range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77240" y="3127248"/>
            <a:ext cx="9966960" cy="0"/>
          </a:xfrm>
          <a:prstGeom prst="line">
            <a:avLst/>
          </a:prstGeom>
          <a:noFill/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3741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03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417320" y="33741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8FAFC"/>
                </a:solidFill>
              </a:rPr>
              <a:t>Client-side bugs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37560" y="339242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CBD5E1"/>
                </a:solidFill>
              </a:rPr>
              <a:t>XSS, CSRF, XXE, Injection, DoS, dependencies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777240" y="3877056"/>
            <a:ext cx="9966960" cy="0"/>
          </a:xfrm>
          <a:prstGeom prst="line">
            <a:avLst/>
          </a:prstGeom>
          <a:noFill/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1239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04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417320" y="41239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8FAFC"/>
                </a:solidFill>
              </a:rPr>
              <a:t>Auth &amp; tokens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37560" y="414223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CBD5E1"/>
                </a:solidFill>
              </a:rPr>
              <a:t>BFLA, BOLA/IDOR, JWT, hijacking, MITM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777240" y="4626864"/>
            <a:ext cx="9966960" cy="0"/>
          </a:xfrm>
          <a:prstGeom prst="line">
            <a:avLst/>
          </a:prstGeom>
          <a:noFill/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873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05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417320" y="4873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8FAFC"/>
                </a:solidFill>
              </a:rPr>
              <a:t>Defense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37560" y="48920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CBD5E1"/>
                </a:solidFill>
              </a:rPr>
              <a:t>Checklist, testing workflow, key takeaways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777240" y="5376672"/>
            <a:ext cx="9966960" cy="0"/>
          </a:xfrm>
          <a:prstGeom prst="line">
            <a:avLst/>
          </a:prstGeom>
          <a:noFill/>
          <a:ln w="10160">
            <a:solidFill>
              <a:srgbClr val="334155">
                <a:alpha val="5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</a:rPr>
              <a:t>CONTEXT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CONTEXT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68096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</a:rPr>
              <a:t>Why Android app security matters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0352" y="12435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Business logic, credentials, and data ship to devices attackers control.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1943100"/>
            <a:ext cx="4983480" cy="1078992"/>
          </a:xfrm>
          <a:prstGeom prst="rect">
            <a:avLst/>
          </a:prstGeom>
          <a:solidFill>
            <a:srgbClr val="1E293B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HOSTILE DEVICE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Attackers can decompile, instrument, tamper with, and repackage the APK offline.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44768" y="1906524"/>
            <a:ext cx="4983480" cy="1115568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RISKS MOVE MOBILE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WebViews, XML parsers, and HTTP clients bring XSS, XXE, CSRF, and MITM into apps.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8368" y="3543300"/>
            <a:ext cx="4983480" cy="1078992"/>
          </a:xfrm>
          <a:prstGeom prst="rect">
            <a:avLst/>
          </a:prstGeom>
          <a:solidFill>
            <a:srgbClr val="1E293B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 ARE IPC SURFACE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Activities, services, receivers, and providers may be reachable from other apps.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44768" y="3543300"/>
            <a:ext cx="4983480" cy="1078992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SUPPLY CHAIN EXPANDS TRUST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SDKs and libraries execute with app permissions; one weak dependency scales risk.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</a:rPr>
              <a:t>CONTEXT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CONTEXT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68096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</a:rPr>
              <a:t>Different aspects of attacks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0352" y="12435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Use this taxonomy to explain the attacker model before showing examples.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Passive vs Active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8368" y="243230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•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4400" y="2414016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observe traffic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8368" y="277063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•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14400" y="2752344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read logs/storage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8368" y="310896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•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14400" y="3090672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collect clipboard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04088" y="3657600"/>
            <a:ext cx="2971800" cy="0"/>
          </a:xfrm>
          <a:prstGeom prst="line">
            <a:avLst/>
          </a:prstGeom>
          <a:noFill/>
          <a:ln w="15240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9867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•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14400" y="3968496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tamper requests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58368" y="432511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•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14400" y="4306824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crash services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58368" y="466344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•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14400" y="4645152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inject payloads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407408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Distributed vs Not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407408" y="243230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•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63440" y="2414016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single app/device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407408" y="277063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•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663440" y="2752344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one proxy position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407408" y="310896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•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663440" y="3090672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local malware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453128" y="3657600"/>
            <a:ext cx="2971800" cy="0"/>
          </a:xfrm>
          <a:prstGeom prst="line">
            <a:avLst/>
          </a:prstGeom>
          <a:noFill/>
          <a:ln w="15240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07408" y="39867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•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663440" y="3968496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botnet traffic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407408" y="432511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•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663440" y="4306824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credential stuffing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407408" y="466344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•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663440" y="4645152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large-scale scraping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156448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</a:rPr>
              <a:t>Inside vs Outside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8156448" y="243230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•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412480" y="2414016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malicious app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156448" y="277063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•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412480" y="2752344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rooted device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156448" y="310896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•</a:t>
            </a: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412480" y="3090672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debug tooling</a:t>
            </a: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8202168" y="3657600"/>
            <a:ext cx="2971800" cy="0"/>
          </a:xfrm>
          <a:prstGeom prst="line">
            <a:avLst/>
          </a:prstGeom>
          <a:noFill/>
          <a:ln w="15240">
            <a:solidFill>
              <a:srgbClr val="38BDF8">
                <a:alpha val="7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56448" y="39867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•</a:t>
            </a: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412480" y="3968496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rogue Wi‑Fi</a:t>
            </a: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156448" y="432511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•</a:t>
            </a: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412480" y="4306824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backend abuse</a:t>
            </a: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8156448" y="466344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•</a:t>
            </a: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8412480" y="4645152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supply chain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</a:rPr>
              <a:t>CASE STUDY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CASE STUDY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68096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</a:rPr>
              <a:t>Meet DIVA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0352" y="12435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</a:rPr>
              <a:t>Damn Insecure and Vulnerable App : a deliberately broken Android lab.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5943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DIVA packages small, self-contained Android vulnerabilities so reviewers can practice static and dynamic analysis safely before testing real apps.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800" y="2825496"/>
            <a:ext cx="2715768" cy="896112"/>
          </a:xfrm>
          <a:prstGeom prst="rect">
            <a:avLst/>
          </a:prstGeom>
          <a:solidFill>
            <a:srgbClr val="1E293B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Autofit/>
          </a:bodyPr>
          <a:lstStyle/>
          <a:p>
            <a:pPr lvl="1"/>
            <a:r>
              <a:rPr lang="en-US" sz="2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</a:t>
            </a:r>
            <a:endParaRPr lang="en-US" sz="2000" dirty="0"/>
          </a:p>
          <a:p>
            <a:pPr lvl="1"/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jakhar.aseem.diva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29000" y="2825496"/>
            <a:ext cx="2715768" cy="896112"/>
          </a:xfrm>
          <a:prstGeom prst="rect">
            <a:avLst/>
          </a:prstGeom>
          <a:solidFill>
            <a:srgbClr val="1E293B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Autofit/>
          </a:bodyPr>
          <a:lstStyle/>
          <a:p>
            <a:pPr lvl="1"/>
            <a:r>
              <a:rPr lang="en-US" sz="2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</a:t>
            </a:r>
            <a:endParaRPr lang="en-US" sz="2000" dirty="0"/>
          </a:p>
          <a:p>
            <a:pPr lvl="1"/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Aseem Jakhar / Payatu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172199" y="2825496"/>
            <a:ext cx="3774233" cy="896112"/>
          </a:xfrm>
          <a:prstGeom prst="rect">
            <a:avLst/>
          </a:prstGeom>
          <a:solidFill>
            <a:srgbClr val="1E293B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Autofit/>
          </a:bodyPr>
          <a:lstStyle/>
          <a:p>
            <a:pPr lvl="1"/>
            <a:r>
              <a:rPr lang="en-US" sz="20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TOOLING</a:t>
            </a:r>
            <a:endParaRPr lang="en-US" sz="2000" dirty="0"/>
          </a:p>
          <a:p>
            <a:pPr lvl="1"/>
            <a:r>
              <a:rPr lang="en-US" sz="2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adb · jadx · apktool · Drozer · Frida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22571" y="42336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</a:rPr>
              <a:t>Challenges used in this deck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69685" y="4608576"/>
            <a:ext cx="2651760" cy="301752"/>
          </a:xfrm>
          <a:prstGeom prst="rect">
            <a:avLst/>
          </a:prstGeom>
          <a:solidFill>
            <a:srgbClr val="2563EB">
              <a:alpha val="95000"/>
            </a:srgbClr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Insecure logging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98685" y="4608576"/>
            <a:ext cx="2651760" cy="301752"/>
          </a:xfrm>
          <a:prstGeom prst="rect">
            <a:avLst/>
          </a:prstGeom>
          <a:solidFill>
            <a:srgbClr val="A78BFA">
              <a:alpha val="95000"/>
            </a:srgbClr>
          </a:solidFill>
          <a:ln>
            <a:solidFill>
              <a:srgbClr val="A78BFA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Hardcoded secrets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27685" y="4608576"/>
            <a:ext cx="2651760" cy="301752"/>
          </a:xfrm>
          <a:prstGeom prst="rect">
            <a:avLst/>
          </a:prstGeom>
          <a:solidFill>
            <a:srgbClr val="F97316">
              <a:alpha val="95000"/>
            </a:srgbClr>
          </a:solidFill>
          <a:ln>
            <a:solidFill>
              <a:srgbClr val="F97316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Insecure storage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69685" y="5020056"/>
            <a:ext cx="2651760" cy="301752"/>
          </a:xfrm>
          <a:prstGeom prst="rect">
            <a:avLst/>
          </a:prstGeom>
          <a:solidFill>
            <a:srgbClr val="2563EB">
              <a:alpha val="95000"/>
            </a:srgbClr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SQL injection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8685" y="5020056"/>
            <a:ext cx="2651760" cy="301752"/>
          </a:xfrm>
          <a:prstGeom prst="rect">
            <a:avLst/>
          </a:prstGeom>
          <a:solidFill>
            <a:srgbClr val="A78BFA">
              <a:alpha val="95000"/>
            </a:srgbClr>
          </a:solidFill>
          <a:ln>
            <a:solidFill>
              <a:srgbClr val="A78BFA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Access control bypass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27685" y="5020056"/>
            <a:ext cx="2651760" cy="301752"/>
          </a:xfrm>
          <a:prstGeom prst="rect">
            <a:avLst/>
          </a:prstGeom>
          <a:solidFill>
            <a:srgbClr val="F97316">
              <a:alpha val="95000"/>
            </a:srgbClr>
          </a:solidFill>
          <a:ln>
            <a:solidFill>
              <a:srgbClr val="F97316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Content provider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69685" y="5431536"/>
            <a:ext cx="2651760" cy="301752"/>
          </a:xfrm>
          <a:prstGeom prst="rect">
            <a:avLst/>
          </a:prstGeom>
          <a:solidFill>
            <a:srgbClr val="2563EB">
              <a:alpha val="95000"/>
            </a:srgbClr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Broadcast leaking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98685" y="5431536"/>
            <a:ext cx="2651760" cy="301752"/>
          </a:xfrm>
          <a:prstGeom prst="rect">
            <a:avLst/>
          </a:prstGeom>
          <a:solidFill>
            <a:srgbClr val="A78BFA">
              <a:alpha val="95000"/>
            </a:srgbClr>
          </a:solidFill>
          <a:ln>
            <a:solidFill>
              <a:srgbClr val="A78BFA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Insecure WebView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27685" y="5431536"/>
            <a:ext cx="2651760" cy="301752"/>
          </a:xfrm>
          <a:prstGeom prst="rect">
            <a:avLst/>
          </a:prstGeom>
          <a:solidFill>
            <a:srgbClr val="F97316">
              <a:alpha val="95000"/>
            </a:srgbClr>
          </a:solidFill>
          <a:ln>
            <a:solidFill>
              <a:srgbClr val="F97316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</a:rPr>
              <a:t>Insecure SSL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</a:rPr>
              <a:t>FRAMEWORK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FRAMEWORK 1/2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68096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</a:rPr>
              <a:t>OWASP Mobile Top 10 mapping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43114" y="241513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</a:rPr>
              <a:t>XSS / CSRF / XXE / Injection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85346" y="243342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BD5E1"/>
                </a:solidFill>
              </a:rPr>
              <a:t>M4 Input/Output Validation · M8 Misconfiguration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43114" y="2890624"/>
            <a:ext cx="10058400" cy="0"/>
          </a:xfrm>
          <a:prstGeom prst="line">
            <a:avLst/>
          </a:prstGeom>
          <a:noFill/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3114" y="307350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</a:rPr>
              <a:t>Vulnerable dependencies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85346" y="309179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BD5E1"/>
                </a:solidFill>
              </a:rPr>
              <a:t>M2 Inadequate Supply Chain Security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43114" y="3548992"/>
            <a:ext cx="10058400" cy="0"/>
          </a:xfrm>
          <a:prstGeom prst="line">
            <a:avLst/>
          </a:prstGeom>
          <a:noFill/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114" y="37318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</a:rPr>
              <a:t>MITM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85346" y="37501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BD5E1"/>
                </a:solidFill>
              </a:rPr>
              <a:t>M5 Insecure Communication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43114" y="4207360"/>
            <a:ext cx="10058400" cy="0"/>
          </a:xfrm>
          <a:prstGeom prst="line">
            <a:avLst/>
          </a:prstGeom>
          <a:noFill/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114" y="439024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</a:rPr>
              <a:t>Input capture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985346" y="440852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BD5E1"/>
                </a:solidFill>
              </a:rPr>
              <a:t>M6 Inadequate Privacy Controls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43114" y="4865728"/>
            <a:ext cx="10058400" cy="0"/>
          </a:xfrm>
          <a:prstGeom prst="line">
            <a:avLst/>
          </a:prstGeom>
          <a:noFill/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114" y="50486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</a:rPr>
              <a:t>Session hijacking / token storage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985346" y="506689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BD5E1"/>
                </a:solidFill>
              </a:rPr>
              <a:t>M9 Insecure Data Storage · M10 Cryptography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43114" y="5524096"/>
            <a:ext cx="10058400" cy="0"/>
          </a:xfrm>
          <a:prstGeom prst="line">
            <a:avLst/>
          </a:prstGeom>
          <a:noFill/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3114" y="570697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</a:rPr>
              <a:t>Hardcoded secrets / credential use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775034" y="5698019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BD5E1"/>
                </a:solidFill>
              </a:rPr>
              <a:t>M1 Improper Credential Usage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43114" y="6182464"/>
            <a:ext cx="10058400" cy="0"/>
          </a:xfrm>
          <a:prstGeom prst="line">
            <a:avLst/>
          </a:prstGeom>
          <a:noFill/>
          <a:ln w="10160">
            <a:solidFill>
              <a:srgbClr val="334155">
                <a:alpha val="55000"/>
              </a:srgbClr>
            </a:solidFill>
            <a:prstDash val="solid"/>
          </a:ln>
        </p:spPr>
      </p:sp>
      <p:sp>
        <p:nvSpPr>
          <p:cNvPr id="28" name="Text 33">
            <a:extLst>
              <a:ext uri="{FF2B5EF4-FFF2-40B4-BE49-F238E27FC236}">
                <a16:creationId xmlns:a16="http://schemas.microsoft.com/office/drawing/2014/main" id="{5AF925DF-8FC1-B45B-EF1F-81FDA967EE0C}"/>
              </a:ext>
            </a:extLst>
          </p:cNvPr>
          <p:cNvSpPr/>
          <p:nvPr/>
        </p:nvSpPr>
        <p:spPr>
          <a:xfrm>
            <a:off x="502920" y="1331572"/>
            <a:ext cx="11018520" cy="8869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category list: M1 Improper Credential Usage · M2 Inadequate Supply Chain Security · M3 Insecure Authentication/Authorization · M4 Insufficient Input/Output Validation · M5 Insecure Communication · M6 Inadequate Privacy Controls · M7 Insufficient Binary Protections · M8 Security Misconfiguration · M9 Insecure Data Storage · M10 Insufficient Cryptography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</a:rPr>
              <a:t>FRAMEWORK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FRAMEWORK 2/2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68096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</a:rPr>
              <a:t>OWASP API Security mapping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0352" y="12435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Authorization and token failures must be verified at the backend/API layer.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" y="1965960"/>
            <a:ext cx="10149840" cy="502920"/>
          </a:xfrm>
          <a:prstGeom prst="rect">
            <a:avLst/>
          </a:prstGeom>
          <a:solidFill>
            <a:srgbClr val="1E293B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BOLA / IDOR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API1:2023 Broken Object Level Authorization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8096" y="2715768"/>
            <a:ext cx="10149840" cy="50292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ATTACKS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API2:2023 Broken Authentication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8096" y="3465576"/>
            <a:ext cx="10149840" cy="502920"/>
          </a:xfrm>
          <a:prstGeom prst="rect">
            <a:avLst/>
          </a:prstGeom>
          <a:solidFill>
            <a:srgbClr val="1E293B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BFLA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API5:2023 Broken Function Level Authorization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8096" y="4233672"/>
            <a:ext cx="10149840" cy="50292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TOKEN MANIPULATION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API1 BOLA · API5 BFLA · API2 Authentication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68096" y="4965192"/>
            <a:ext cx="10149840" cy="502920"/>
          </a:xfrm>
          <a:prstGeom prst="rect">
            <a:avLst/>
          </a:prstGeom>
          <a:solidFill>
            <a:srgbClr val="1E293B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AGAINST APIS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API4:2023 Unrestricted Resource Consumption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86384" y="5824728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</a:rPr>
              <a:t>Key message: hiding functions in the Android UI is not authorization.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</a:rPr>
              <a:t>CLIENT-SIDE INJECTION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CLIENT-SIDE INJECTION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68096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</a:rPr>
              <a:t>XSS in Android WebViews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15984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OWASP M4: Input/Output Validation · M8: Security Misconfiguration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995160" y="17970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ATTACK PATH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95160" y="2135380"/>
            <a:ext cx="457200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A deep link, server response, local HTML asset, or user comment is rendered in a WebView without safe encoding. JavaScript executes inside the app context.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95160" y="33241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IMPACT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995160" y="3653284"/>
            <a:ext cx="457200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With exposed JavaScript bridges, injected code can call native functions, read local storage, and exfiltrate tokens or user data.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6631" y="1797052"/>
            <a:ext cx="5669280" cy="160020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/ DIVA CONTEXT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DIVA’s Insecure WebView challenge shows JavaScript enabled with weak origin restrictions — the exact setup that turns WebView input into code execution.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4048" y="3766861"/>
            <a:ext cx="5669280" cy="141732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 FOCUS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JavaScript unless required · encode/sanitize HTML · restrict addJavascriptInterface · allowlist origins · enable Safe Browsing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84048" y="638251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</a:rPr>
              <a:t>FORGED REQUESTS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FORGED REQUESTS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68096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</a:rPr>
              <a:t>CSRF Cross-Site Request Forgery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0352" y="12435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OWASP M3: Insecure Authentication/Authorization · M4: Input/Output Validation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14457" y="19522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ATTACK PATH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14457" y="2290572"/>
            <a:ext cx="457200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An attacker-controlled page loaded in a WebView auto-submits a state-changing request while the app’s cookies/session are still active.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14457" y="34792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IMPACT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814457" y="3808476"/>
            <a:ext cx="457200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The backend sees a legitimate authenticated request, so password changes, profile edits, or financial actions may execute as the user.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0352" y="1874520"/>
            <a:ext cx="5669280" cy="160020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/ DIVA CONTEXT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DIVA has no dedicated CSRF module, but its WebView setup illustrates the precondition: untrusted content sharing session state.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2920" y="3744468"/>
            <a:ext cx="5669280" cy="141732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 FOCUS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anti-CSRF tokens · SameSite cookies · re-auth for sensitive actions · separate cookie jars for untrusted WebViews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</a:rPr>
              <a:t>XML PARSING ABUSE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XML PARSING ABUSE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68096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</a:rPr>
              <a:t>XXE XML External Entity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0352" y="12435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OWASP M4: Input/Output Validation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3894" y="189467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ATTACK PATH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3894" y="2233002"/>
            <a:ext cx="457200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An app parses attacker-controlled XML from imports, SOAP, SSO, feeds, or SDK config while external entities/DOCTYPE are still enabled.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53894" y="342172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IMPACT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3894" y="3750906"/>
            <a:ext cx="457200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A malicious entity can trigger local file disclosure, SSRF-like internal requests, or entity-expansion denial of service.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2920" y="1765725"/>
            <a:ext cx="5669280" cy="160020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/ DIVA CONTEXT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DIVA does not include an XXE module; the lesson carries to any Android feature that parses XML without hardening parser settings.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2920" y="3777405"/>
            <a:ext cx="5669280" cy="141732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 FOCUS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DOCTYPE · disable external general/parameter entities · prefer JSON · use patched parser libraries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</a:rPr>
              <a:t>UNSANITIZED INPUT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UNSANITIZED INPUT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68096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</a:rPr>
              <a:t>Injection SQL &amp; Command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0352" y="121372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OWASP M4: Input/Output Validation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40784" y="2104333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ATTACK PATH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40784" y="2442661"/>
            <a:ext cx="457200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Raw input is concatenated into SQLite queries, shell commands, or content-provider calls instead of using parameterized APIs.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40784" y="353415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IMPACT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640784" y="3960565"/>
            <a:ext cx="457200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Attackers read or modify local databases, bypass filters, dump credentials, or trigger command execution on misconfigured/rooted devices.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0616" y="1807153"/>
            <a:ext cx="5669280" cy="160020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/ DIVA CONTEXT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DIVA’s SQLInjectionActivity builds a query with raw input; classic payloads such as OR conditions dump stored user records.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0616" y="3818833"/>
            <a:ext cx="5669280" cy="141732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 FOCUS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Parameterized queries · prepared statements · input allowlists · least-privilege providers · never concatenate SQL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</a:rPr>
              <a:t>AVAILABILITY ATTACKS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AVAILABILITY ATTACKS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68096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</a:rPr>
              <a:t>Denial of Service / DDoS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0352" y="12435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OWASP M8: Security Misconfiguration · M4: Input/Output Validation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769919" y="201998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ATTACK PATH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69919" y="2442288"/>
            <a:ext cx="457200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Exported components receive malformed Intents or repeated broadcasts. Missing null checks and unbounded loops force crashes or hangs.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69919" y="3547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IMPACT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769919" y="3813048"/>
            <a:ext cx="457200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Crash loops make the app unusable, drain battery/memory, and may mask other malicious activity on the device.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5183" y="1810512"/>
            <a:ext cx="5669280" cy="160020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/ DIVA CONTEXT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DIVA’s exported unauthenticated components and broadcast leakage show the same root cause: broad reachability with weak validation.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5183" y="3822192"/>
            <a:ext cx="5669280" cy="141732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 FOCUS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exported=false by default · validate every Intent extra · custom permissions · rate-limit · fail gracefully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39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</a:rPr>
              <a:t>SUPPLY CHAIN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SUPPLY CHAIN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68096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</a:rPr>
              <a:t>Exploiting third-party dependencies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0352" y="12435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OWASP M2: Inadequate Supply Chain Security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76612" y="19842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ATTACK PATH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76612" y="2322576"/>
            <a:ext cx="457200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Ad SDKs, analytics kits, crash reporters, and open-source libraries run with app permissions; vulnerable or malicious transitive code ships silently.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76612" y="351129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IMPACT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676612" y="3840480"/>
            <a:ext cx="457200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One vulnerable SDK can expose many apps to data exfiltration, RCE chains, excessive tracking, or ad-fraud behavior at scale.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2920" y="1911096"/>
            <a:ext cx="5669280" cy="160020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/ DIVA CONTEXT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DIVA is intentionally small, but its insecure storage/SSL bugs mirror defects often introduced by outdated networking or storage libraries.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2920" y="3922776"/>
            <a:ext cx="5669280" cy="141732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 FOCUS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SBOM · SCA in CI · pin versions · patch regularly · review SDK permissions/data flows · monitor CVEs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</a:rPr>
              <a:t>BROKEN AUTHORIZATION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BROKEN AUTHORIZATION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46988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</a:rPr>
              <a:t>BFLA : Broken Function Level Authorization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0352" y="117957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OWASP API5:2023 BFLA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795485" y="21354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ATTACK PATH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95485" y="2473732"/>
            <a:ext cx="457200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A sensitive function is hidden in the UI but not checked on the endpoint. A normal user discovers the route and calls it directly.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95485" y="36624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IMPACT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795485" y="3991636"/>
            <a:ext cx="457200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Privilege escalation: non-admin users execute admin actions such as deleting accounts, changing roles, or issuing refunds.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2920" y="1952244"/>
            <a:ext cx="5669280" cy="160020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/ DIVA CONTEXT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DIVA’s access-control challenge allows a PIN-protected activity to be launched directly via adb/Intent UI gate bypassed.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2920" y="3872204"/>
            <a:ext cx="5669280" cy="141732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 FOCUS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Server-side role checks per endpoint · deny by default · do not trust hidden UI · audit privileged routes separately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</a:rPr>
              <a:t>BROKEN AUTHORIZATION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BROKEN AUTHORIZATION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68096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</a:rPr>
              <a:t>BOLA &amp; IDOR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0352" y="12435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OWASP API1:2023 BOLA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797351" y="21534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ATTACK PATH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97351" y="2491740"/>
            <a:ext cx="457200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An endpoint accepts an object ID and checks only that the caller is logged in — not whether that object belongs to the caller.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97351" y="36804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IMPACT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797351" y="4009644"/>
            <a:ext cx="457200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Changing userId/orderId/fileId exposes or modifies another user’s records; sequential IDs can turn this into mass data exposure.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0352" y="1746504"/>
            <a:ext cx="5669280" cy="160020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/ DIVA CONTEXT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DIVA’s insecure Content Provider exposes app records without per-caller authorization, the mobile-local version of object-level access failure.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0352" y="3758184"/>
            <a:ext cx="5669280" cy="141732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 FOCUS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Authorize per object · verify ownership on every request · avoid sequential IDs · test with another user’s token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</a:rPr>
              <a:t>TOKEN INTEGRITY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TOKEN INTEGRITY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68096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</a:rPr>
              <a:t>JWT : JSON Web Token attacks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0352" y="12435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OWASP API2:2023 Broken Authentication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909661" y="19210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ATTACK PATH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09661" y="2259408"/>
            <a:ext cx="457200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The app may decode JWTs for UI logic, but real risk occurs when the backend accepts alg:none, weak secrets, or unverified signatures.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09661" y="34481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IMPACT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909661" y="3830496"/>
            <a:ext cx="457200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Forged or tampered tokens enable impersonation, role escalation, or sessions that never expire correctly.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6364" y="1776828"/>
            <a:ext cx="5669280" cy="160020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/ DIVA CONTEXT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DIVA predates JWT usage, but hardcoded secrets and insecure storage demonstrate the same failure: sensitive token material exposed on-device.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6364" y="3788508"/>
            <a:ext cx="5669280" cy="141732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 FOCUS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signatures server-side · reject unexpected algorithms · short expiry + refresh · store tokens in Keystore/EncryptedSharedPreferences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</a:rPr>
              <a:t>SESSION INTEGRITY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SESSION INTEGRITY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68096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</a:rPr>
              <a:t>Session &amp; Account Hijacking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206635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OWASP M9: Insecure Data Storage · API2 Broken Authentication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741927" y="1982381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ATTACK PATH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41927" y="2320709"/>
            <a:ext cx="457200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A session token/cookie is logged, stored in plaintext, sent over cleartext HTTP, or leaked via an exported component.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41927" y="3509429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IMPACT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741927" y="3961219"/>
            <a:ext cx="457200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The attacker replays the token and acts as the already-authenticated user until revocation or expiry.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2920" y="1837570"/>
            <a:ext cx="5669280" cy="160020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/ DIVA CONTEXT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DIVA stores credentials in SharedPreferences, SQLite, and a plain file; pulling any of them enables replay-style compromise.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2920" y="3906355"/>
            <a:ext cx="5669280" cy="141732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 FOCUS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Keystore-backed storage · TLS everywhere · secure/HttpOnly cookies · rotation · logout invalidation · device binding where appropriate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628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</a:rPr>
              <a:t>ON-DEVICE INTERCEPTION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ON-DEVICE INTERCEPTION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68096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</a:rPr>
              <a:t>Input capture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0352" y="12435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OWASP M6: Inadequate Privacy Controls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56832" y="2100693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ATTACK PATH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56832" y="2439021"/>
            <a:ext cx="457200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A malicious app overlays the screen, abuses Accessibility Services, or reads clipboard content after users copy passwords or OTPs.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56832" y="3655173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IMPACT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656832" y="4050324"/>
            <a:ext cx="457200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Credentials, OTPs, and card data are captured before they reach the protected app — the theft happens above or beside it.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1824" y="1857866"/>
            <a:ext cx="5669280" cy="160020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/ DIVA CONTEXT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DIVA does not stage overlay malware, but missing FLAG_SECURE and permissive input handling illustrate the hardening gap.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2088" y="3788043"/>
            <a:ext cx="5669280" cy="141732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 FOCUS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setFilterTouchesWhenObscured · FLAG_SECURE · disable copy on OTP/password fields · detect suspicious Accessibility grants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</a:rPr>
              <a:t>NETWORK INTERCEPTION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NETWORK INTERCEPTION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68096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</a:rPr>
              <a:t>Man-in-the-Middle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OWASP M5: Insecure Communication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37175" y="19751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ATTACK PATH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37175" y="2313432"/>
            <a:ext cx="457200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On rogue Wi‑Fi or through a proxy, the attacker sits between app and backend. Weak certificate/hostname validation accepts the proxy cert.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37175" y="35021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IMPACT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637175" y="3831336"/>
            <a:ext cx="457200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API traffic becomes visible and mutable: credentials, tokens, profile data, and responses can be read or altered in transit.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6720" y="1700131"/>
            <a:ext cx="5669280" cy="160020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/ DIVA CONTEXT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DIVA’s Insecure SSL challenge uses a TrustManager that accepts any certificate, making proxy interception trivial.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6720" y="3648176"/>
            <a:ext cx="5669280" cy="141732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 FOCUS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Certificate/public-key pinning · block cleartext · validate hostname and chain · avoid trusting user-installed CAs for sensitive flows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</a:rPr>
              <a:t>BROKEN AUTHORIZATION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BROKEN AUTHORIZATION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68096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</a:rPr>
              <a:t>Access token manipulation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0352" y="12435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OWASP API1 BOLA · API5 BFLA · API2 Authentication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35234" y="1950331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</a:rPr>
              <a:t>ATTACK PATH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35234" y="2288659"/>
            <a:ext cx="457200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A client-visible role, scope, or claim is edited before being sent; the backend trusts it instead of validating issued permissions.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35234" y="3477379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IMPACT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835234" y="3806563"/>
            <a:ext cx="457200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8FAFC"/>
                </a:solidFill>
              </a:rPr>
              <a:t>Read-only tokens become write-capable, single-resource scopes spread to unrelated resources, or revoked tokens remain usable.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0352" y="1707176"/>
            <a:ext cx="5669280" cy="160020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 / DIVA CONTEXT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DIVA’s Intent-based PIN bypass reinforces the same principle: never trust caller-supplied authority without re-verification.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0352" y="3718856"/>
            <a:ext cx="5669280" cy="1417320"/>
          </a:xfrm>
          <a:prstGeom prst="rect">
            <a:avLst/>
          </a:prstGeom>
          <a:solidFill>
            <a:srgbClr val="111827">
              <a:alpha val="97000"/>
            </a:srgbClr>
          </a:solidFill>
          <a:ln>
            <a:solidFill>
              <a:srgbClr val="334155">
                <a:alpha val="5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lvl="1"/>
            <a:r>
              <a:rPr lang="en-US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 FOCUS</a:t>
            </a:r>
            <a:endParaRPr lang="en-US" dirty="0"/>
          </a:p>
          <a:p>
            <a:pPr lvl="1"/>
            <a:r>
              <a:rPr lang="en-US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signature and claims every call · check expiry/revocation · least-privilege scopes · never trust client-side role flags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</a:rPr>
              <a:t>RECAP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RECAP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68096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</a:rPr>
              <a:t>Attack surface at a glance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0352" y="12435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Most attacks reduce to one root mistake: trusting uncontrolled input or state.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</a:rPr>
              <a:t>WebView / XML / SQL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297680" y="188366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8FAFC"/>
                </a:solidFill>
              </a:rPr>
              <a:t>Untrusted input becomes code, query, or parser behavior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4672" y="2377440"/>
            <a:ext cx="9966960" cy="0"/>
          </a:xfrm>
          <a:prstGeom prst="line">
            <a:avLst/>
          </a:prstGeom>
          <a:noFill/>
          <a:ln w="1016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060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</a:rPr>
              <a:t>IPC components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297680" y="261518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8FAFC"/>
                </a:solidFill>
              </a:rPr>
              <a:t>Other apps can invoke exposed app surfaces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04672" y="3108960"/>
            <a:ext cx="9966960" cy="0"/>
          </a:xfrm>
          <a:prstGeom prst="line">
            <a:avLst/>
          </a:prstGeom>
          <a:noFill/>
          <a:ln w="1016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375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</a:rPr>
              <a:t>Tokens / sessions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297680" y="334670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8FAFC"/>
                </a:solidFill>
              </a:rPr>
              <a:t>Client-visible secrets become replayable identity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04672" y="3840480"/>
            <a:ext cx="9966960" cy="0"/>
          </a:xfrm>
          <a:prstGeom prst="line">
            <a:avLst/>
          </a:prstGeom>
          <a:noFill/>
          <a:ln w="1016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690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</a:rPr>
              <a:t>APIs / objects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297680" y="407822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8FAFC"/>
                </a:solidFill>
              </a:rPr>
              <a:t>Authenticated does not mean authorized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04672" y="4572000"/>
            <a:ext cx="9966960" cy="0"/>
          </a:xfrm>
          <a:prstGeom prst="line">
            <a:avLst/>
          </a:prstGeom>
          <a:noFill/>
          <a:ln w="10160">
            <a:solidFill>
              <a:srgbClr val="334155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8006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</a:rPr>
              <a:t>Network / SDKs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297680" y="480974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8FAFC"/>
                </a:solidFill>
              </a:rPr>
              <a:t>Trust extends to transport and third-party code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04672" y="5303520"/>
            <a:ext cx="9966960" cy="0"/>
          </a:xfrm>
          <a:prstGeom prst="line">
            <a:avLst/>
          </a:prstGeom>
          <a:noFill/>
          <a:ln w="10160">
            <a:solidFill>
              <a:srgbClr val="334155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</a:rPr>
              <a:t>DEFENSE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DEFENSE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68096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</a:rPr>
              <a:t>Secure-by-default checklist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0352" y="12435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Use this as the closing checklist for code review and test reporting.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7721" y="1594415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</a:rPr>
              <a:t>Code, components, and input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2125793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</a:rPr>
              <a:t>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7157" y="2069809"/>
            <a:ext cx="4727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Parameterize all queries and commands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70561" y="256946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</a:rPr>
              <a:t>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26593" y="2551176"/>
            <a:ext cx="4727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Validate and allowlist every input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0561" y="30723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26593" y="3054096"/>
            <a:ext cx="4727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Encode output rendered in WebViews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0561" y="357530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</a:rPr>
              <a:t>•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26593" y="3557016"/>
            <a:ext cx="4727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Disable XML DOCTYPE/external entities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0561" y="407822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</a:rPr>
              <a:t>•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26593" y="4059936"/>
            <a:ext cx="4727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exported=false unless explicitly required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0561" y="458114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</a:rPr>
              <a:t>•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26593" y="4562856"/>
            <a:ext cx="4727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Guard IPC with custom permissions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062472" y="1874520"/>
            <a:ext cx="0" cy="3749040"/>
          </a:xfrm>
          <a:prstGeom prst="line">
            <a:avLst/>
          </a:prstGeom>
          <a:noFill/>
          <a:ln w="1524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43878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</a:rPr>
              <a:t>Auth, network, and supply chain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37960" y="1908810"/>
            <a:ext cx="1645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</a:rPr>
              <a:t>•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03136" y="2071116"/>
            <a:ext cx="4773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Authorize function and object access server-side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537960" y="285292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</a:rPr>
              <a:t>•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793992" y="2834640"/>
            <a:ext cx="4773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Verify JWT signatures and claims every request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537960" y="335584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</a:rPr>
              <a:t>•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793992" y="3337560"/>
            <a:ext cx="4773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Store tokens in Keystore-backed storage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537960" y="385876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</a:rPr>
              <a:t>•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793992" y="3840480"/>
            <a:ext cx="4773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Pin certificates and block cleartext traffic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537960" y="436168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</a:rPr>
              <a:t>•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793992" y="4343400"/>
            <a:ext cx="4773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Run SCA/dependency scanning in CI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537960" y="486460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</a:rPr>
              <a:t>•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793992" y="4846320"/>
            <a:ext cx="4773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Encrypt sensitive data at rest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</a:rPr>
              <a:t>DEFENSE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DEFENSE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68096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</a:rPr>
              <a:t>Practical testing workflow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0352" y="12435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A cleaner structure for presenting the lab/demo portion.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475488" cy="301752"/>
          </a:xfrm>
          <a:prstGeom prst="rect">
            <a:avLst/>
          </a:prstGeom>
          <a:solidFill>
            <a:srgbClr val="2563EB">
              <a:alpha val="95000"/>
            </a:srgbClr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8FAFC"/>
                </a:solidFill>
              </a:rPr>
              <a:t>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99032" y="2011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8FAFC"/>
                </a:solidFill>
              </a:rPr>
              <a:t>Static review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7240" y="265176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BD5E1"/>
                </a:solidFill>
              </a:rPr>
              <a:t>jadx/apktool: manifests, exported components, hardcoded secrets, WebViews, parsers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66160" y="2011680"/>
            <a:ext cx="475488" cy="301752"/>
          </a:xfrm>
          <a:prstGeom prst="rect">
            <a:avLst/>
          </a:prstGeom>
          <a:solidFill>
            <a:srgbClr val="A78BFA">
              <a:alpha val="95000"/>
            </a:srgbClr>
          </a:solidFill>
          <a:ln>
            <a:solidFill>
              <a:srgbClr val="A78BFA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8FAFC"/>
                </a:solidFill>
              </a:rPr>
              <a:t>2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87952" y="2011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8FAFC"/>
                </a:solidFill>
              </a:rPr>
              <a:t>Dynamic probing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66160" y="265176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BD5E1"/>
                </a:solidFill>
              </a:rPr>
              <a:t>adb/Frida/Drozer: Intents, providers, storage, runtime behavior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55080" y="2011680"/>
            <a:ext cx="475488" cy="301752"/>
          </a:xfrm>
          <a:prstGeom prst="rect">
            <a:avLst/>
          </a:prstGeom>
          <a:solidFill>
            <a:srgbClr val="F97316">
              <a:alpha val="95000"/>
            </a:srgbClr>
          </a:solidFill>
          <a:ln>
            <a:solidFill>
              <a:srgbClr val="F97316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8FAFC"/>
                </a:solidFill>
              </a:rPr>
              <a:t>3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76872" y="2011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8FAFC"/>
                </a:solidFill>
              </a:rPr>
              <a:t>Network validation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55080" y="265176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BD5E1"/>
                </a:solidFill>
              </a:rPr>
              <a:t>Proxy: TLS, pinning, cleartext, cookies, tokens, replay attempts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144000" y="2011680"/>
            <a:ext cx="475488" cy="301752"/>
          </a:xfrm>
          <a:prstGeom prst="rect">
            <a:avLst/>
          </a:prstGeom>
          <a:solidFill>
            <a:srgbClr val="22C55E">
              <a:alpha val="95000"/>
            </a:srgbClr>
          </a:solidFill>
          <a:ln>
            <a:solidFill>
              <a:srgbClr val="22C55E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8FAFC"/>
                </a:solidFill>
              </a:rPr>
              <a:t>4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765792" y="2011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8FAFC"/>
                </a:solidFill>
              </a:rPr>
              <a:t>Report evidence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144000" y="265176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BD5E1"/>
                </a:solidFill>
              </a:rPr>
              <a:t>Root cause → exploit path → impact → reproducible steps → mitigation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1051560" y="4709160"/>
            <a:ext cx="9555480" cy="0"/>
          </a:xfrm>
          <a:prstGeom prst="line">
            <a:avLst/>
          </a:prstGeom>
          <a:noFill/>
          <a:ln w="17780">
            <a:solidFill>
              <a:srgbClr val="38BDF8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2164080" y="525537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</a:rPr>
              <a:t>Repeat until evidence is strong enough for remediation.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4652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84048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4A3B8"/>
                </a:solidFill>
              </a:rPr>
              <a:t>CLOSE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13232" y="109728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</a:rPr>
              <a:t>Assume the client is hostile territory.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49808" y="208483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Every vector covered here exploits the same gap: trusting input, state, or code the app does not fully control.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310896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8BDF8"/>
                </a:solidFill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3090672"/>
            <a:ext cx="8705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Practice safely against DIVA, then apply the same review to your codebase.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367588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8BDF8"/>
                </a:solidFill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97280" y="3657600"/>
            <a:ext cx="8705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For every finding, document: root cause, exploit path, impact, evidence, mitigation.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1248" y="424281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8BDF8"/>
                </a:solidFill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4224528"/>
            <a:ext cx="87050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Questions &amp; discussion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1248" y="565099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</a:rPr>
              <a:t>Practice range: github.com/payatu/diva-android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2371</Words>
  <Application>Microsoft Office PowerPoint</Application>
  <PresentationFormat>Widescreen</PresentationFormat>
  <Paragraphs>405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Application Security: Android App Attack Surfaces</dc:title>
  <dc:subject>Android App Attack Surfaces - updated presentation deck</dc:subject>
  <dc:creator>OpenAI</dc:creator>
  <cp:lastModifiedBy>parniyan nakhei</cp:lastModifiedBy>
  <cp:revision>3</cp:revision>
  <dcterms:created xsi:type="dcterms:W3CDTF">2026-07-20T07:55:14Z</dcterms:created>
  <dcterms:modified xsi:type="dcterms:W3CDTF">2026-07-20T08:46:49Z</dcterms:modified>
</cp:coreProperties>
</file>